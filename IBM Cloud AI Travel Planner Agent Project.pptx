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8" r:id="rId22"/>
    <p:sldId id="279" r:id="rId23"/>
    <p:sldId id="27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5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43.png"/><Relationship Id="rId4" Type="http://schemas.openxmlformats.org/officeDocument/2006/relationships/image" Target="../media/image7.png"/><Relationship Id="rId9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2.png"/><Relationship Id="rId7" Type="http://schemas.openxmlformats.org/officeDocument/2006/relationships/image" Target="../media/image4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52.png"/><Relationship Id="rId4" Type="http://schemas.openxmlformats.org/officeDocument/2006/relationships/image" Target="../media/image33.png"/><Relationship Id="rId9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E4B6D6-61D3-E7D3-B444-1C2242BBC8B9}"/>
              </a:ext>
            </a:extLst>
          </p:cNvPr>
          <p:cNvSpPr txBox="1"/>
          <p:nvPr/>
        </p:nvSpPr>
        <p:spPr>
          <a:xfrm>
            <a:off x="1119009" y="1820070"/>
            <a:ext cx="10282989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6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IBM University Engagement Project Submission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8EB4BA3-33D9-F70E-5E6D-F87AE812A83E}"/>
              </a:ext>
            </a:extLst>
          </p:cNvPr>
          <p:cNvSpPr txBox="1">
            <a:spLocks/>
          </p:cNvSpPr>
          <p:nvPr/>
        </p:nvSpPr>
        <p:spPr>
          <a:xfrm>
            <a:off x="902436" y="4368884"/>
            <a:ext cx="10515600" cy="1500187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 i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“Exploring the Power of Agentic AI with IBM Cloud and Orchestrate”</a:t>
            </a:r>
            <a:endParaRPr lang="en-IN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C4426-E101-D319-4DE2-2828050D8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050928-2B44-002D-35FF-9BA2333311FF}"/>
              </a:ext>
            </a:extLst>
          </p:cNvPr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Google Shape;96;p2">
            <a:extLst>
              <a:ext uri="{FF2B5EF4-FFF2-40B4-BE49-F238E27FC236}">
                <a16:creationId xmlns:a16="http://schemas.microsoft.com/office/drawing/2014/main" id="{E34F0034-9671-FD4C-8AFE-AF7398F02B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5848272"/>
              </p:ext>
            </p:extLst>
          </p:nvPr>
        </p:nvGraphicFramePr>
        <p:xfrm>
          <a:off x="368968" y="3227486"/>
          <a:ext cx="11518234" cy="3239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2779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1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35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955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03442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/>
                        <a:t>Student Name</a:t>
                      </a:r>
                      <a:endParaRPr sz="2000" b="1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u="none" strike="noStrike" cap="none" dirty="0"/>
                        <a:t>Recent Passport Photo</a:t>
                      </a:r>
                      <a:endParaRPr sz="2000" b="1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20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20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20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3592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/>
                        <a:t>ADITYA PATEL</a:t>
                      </a:r>
                      <a:endParaRPr sz="24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Aditya.patel7858@gmail.com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3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1" dirty="0"/>
                        <a:t>9162204964</a:t>
                      </a:r>
                      <a:endParaRPr sz="2000" b="1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42BE815E-230A-03E4-7A9E-FBFB025D980D}"/>
              </a:ext>
            </a:extLst>
          </p:cNvPr>
          <p:cNvSpPr txBox="1"/>
          <p:nvPr/>
        </p:nvSpPr>
        <p:spPr>
          <a:xfrm>
            <a:off x="1206164" y="1354069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Project Tile – </a:t>
            </a:r>
            <a:r>
              <a:rPr lang="en-IN" sz="2400" dirty="0">
                <a:highlight>
                  <a:srgbClr val="FFFF00"/>
                </a:highlight>
                <a:latin typeface="Arial"/>
              </a:rPr>
              <a:t>Problem Statement No. 5 - Travel Planner Agent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7DC7F5-A6D8-D5BF-82C8-2EBB4A545BBF}"/>
              </a:ext>
            </a:extLst>
          </p:cNvPr>
          <p:cNvSpPr txBox="1"/>
          <p:nvPr/>
        </p:nvSpPr>
        <p:spPr>
          <a:xfrm>
            <a:off x="1206164" y="2262828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Domain of  Project – </a:t>
            </a:r>
            <a:r>
              <a:rPr lang="en-IN" sz="2400" dirty="0">
                <a:highlight>
                  <a:srgbClr val="FFFF00"/>
                </a:highlight>
                <a:latin typeface="Arial"/>
              </a:rPr>
              <a:t>Travel, Tourism &amp; Smart AI Assistants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F20B5C2-27E2-E1C1-91E4-B9DA52A08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2017" y="4491788"/>
            <a:ext cx="1921042" cy="192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397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943100"/>
            <a:ext cx="5334000" cy="36517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43100"/>
            <a:ext cx="5334000" cy="365179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775" y="2238375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Phase I: Foundation &amp;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1775" y="2238375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Phase II: Execution &amp;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7775" y="291837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1. Introduction &amp; Project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7775" y="339462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2. Problem Statement &amp; Challenges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47775" y="387087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3. Proposed Solution &amp;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47775" y="434712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4. Technology Stack &amp; Orchestrate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7775" y="482337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5. IBM Cloud &amp; WatsonX Project Setup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62775" y="291837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6. Implementation &amp; Screenshots (Live AI Output)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62775" y="339462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7. Status Badge: IBM Granite Live Highlight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2775" y="387087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8. Key Highlights &amp; System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2775" y="434712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9. Project Artifacts &amp; GitHub Roadmap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2775" y="4823370"/>
            <a:ext cx="43624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10. Certifications &amp; Acknowledgements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961233"/>
            <a:ext cx="123825" cy="2000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437483"/>
            <a:ext cx="123825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3913733"/>
            <a:ext cx="123825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389983"/>
            <a:ext cx="123825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866233"/>
            <a:ext cx="123825" cy="20002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2961233"/>
            <a:ext cx="123825" cy="200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437483"/>
            <a:ext cx="123825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3913733"/>
            <a:ext cx="123825" cy="20002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4389983"/>
            <a:ext cx="123825" cy="20002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1775" y="4866233"/>
            <a:ext cx="123825" cy="2000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Table of Contents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5940"/>
            <a:ext cx="2547937" cy="3445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045940"/>
            <a:ext cx="2547937" cy="34459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45940"/>
            <a:ext cx="2547937" cy="34459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045940"/>
            <a:ext cx="2547937" cy="34459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2788890"/>
            <a:ext cx="1027003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326010"/>
            <a:ext cx="205263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D1D5DB"/>
                </a:solidFill>
                <a:latin typeface="Arial"/>
              </a:rPr>
              <a:t>Travel, Tourism &amp; Smart AI Assistants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2837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2837" y="3672631"/>
            <a:ext cx="205263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D1D5DB"/>
                </a:solidFill>
                <a:latin typeface="Arial"/>
              </a:rPr>
              <a:t>Problem Statement No. 5 - Travel Planner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Core Model &amp; Tech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ibm/granite-3-8b-instruct via IBM watsonx.ai REST APIs. Mandatory use of IBM Cloud Lite Services.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0212" y="2788890"/>
            <a:ext cx="2048849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Target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0212" y="3326010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Responsive Web Application (Spring Boot Java + Glassmorphic UI)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30311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837" y="2303115"/>
            <a:ext cx="2286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0212" y="2303115"/>
            <a:ext cx="3810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Introduction &amp; Project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62162"/>
            <a:ext cx="5334000" cy="34136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062162"/>
            <a:ext cx="5334000" cy="34136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775" y="2357437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Problem Statement No. 5 Breakdown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2894558"/>
            <a:ext cx="4743450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The Challenge: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 Travel Planner Agent is an AI-powered assistant that helps users plan trips efficiently and intelligently. It uses real-time data to suggest destinations, build itineraries, and recommend transport and accommodation 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466183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By understanding user preferences, budgets, and constraints, it tailors personalized travel plans.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357437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Integrated Features &amp; Current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2894558"/>
            <a:ext cx="4743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Features: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Integrated with weather updates, local guides, and maps, it ensures a smooth travel experience, managing bookings, alerting users to changes, and optimizing schedules on the go.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180433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Current Gaps: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Traditional travel tools present static, fragmented information without real-time AI contextual awareness or live environmental data integration.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Problem Statement &amp;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2435423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1. Context-Aware AI Itineraries: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Generate multi-day travel schedules tailored to destination, budget level, and trip duration.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11673"/>
            <a:ext cx="10668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2. Real-Time Weather RAG Integration: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Fetch live temperatures, weather conditions, and wind metrics to inform trip planning.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673673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3. IBM Granite AI Inferencing: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Direct REST integration with ibm/granite-3-8b-instruct model on IBM watsonx.ai.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149923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4. Live Health Monitoring: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Dynamic status badge confirming IBM Cloud IAM authentication and model readiness.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626173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5. Curated Destination Search: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Interactive recommendations for major global tourist destinations and budget guides.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8285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54535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16535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192785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69035"/>
            <a:ext cx="2190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Project Objectives &amp; Core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037"/>
            <a:ext cx="5334000" cy="3127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334000" cy="3127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775" y="2500312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System Solution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37433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End-to-End Smart Assistant: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Built using Java 17, Spring Boot 3.2.3, IBM watsonx.ai, and Granite 3-8B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4037558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Multi-Agent Architecture: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Modular system dividing tasks into WatsonX Service, Weather Service, and Destination Service.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500312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Real-Time Pipeline &amp;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037433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Real-Time RAG Pipeline: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Queries Open-Meteo live weather data before feeding prompt context to IBM Granite.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037558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Glassmorphism Frontend: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Modern web user interface with smooth gradients, cards, and real-time status indicators.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Proposed Solution: AI-Powered Travel Agent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5940"/>
            <a:ext cx="2547937" cy="3445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045940"/>
            <a:ext cx="2547937" cy="34459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45940"/>
            <a:ext cx="2547937" cy="34459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045940"/>
            <a:ext cx="2547937" cy="34459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WatsonX AI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Handles IBM Cloud IAM OAuth tokens and executes prompt inferencing on Granite 3-8B model.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2837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Weather RAG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2837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Fetches live weather metrics (temperature, conditions, wind) from Open-Meteo REST APIs.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Destination Guide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Provides instant curated search results for popular travel destinations and budget tips.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0212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Status Monitor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0212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Performs background health checks verifying IAM token validity and watsonxConfigured state.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303115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837" y="2303115"/>
            <a:ext cx="1905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303115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0212" y="2303115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Specialized Functional Agents Overview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1397198"/>
            <a:ext cx="11049000" cy="4743450"/>
          </a:xfrm>
          <a:prstGeom prst="roundRect">
            <a:avLst>
              <a:gd name="adj" fmla="val 0"/>
            </a:avLst>
          </a:prstGeom>
          <a:solidFill>
            <a:srgbClr val="26262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1397198"/>
          <a:ext cx="11039474" cy="4743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19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17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62FE"/>
                          </a:solidFill>
                          <a:latin typeface="Arial"/>
                        </a:rPr>
                        <a:t>Core 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0F62FE"/>
                          </a:solidFill>
                          <a:latin typeface="Arial"/>
                        </a:rPr>
                        <a:t>Technology / Service Used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1D5DB"/>
                          </a:solidFill>
                          <a:latin typeface="Arial"/>
                        </a:rPr>
                        <a:t>IBM Granite AI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Arial"/>
                        </a:rPr>
                        <a:t>ibm/granite-3-8b-instruct via IBM watsonx.ai REST endpoints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1D5DB"/>
                          </a:solidFill>
                          <a:latin typeface="Arial"/>
                        </a:rPr>
                        <a:t>Cloud Infrastructure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Arial"/>
                        </a:rPr>
                        <a:t>IBM Cloud Lite Account with IAM Token Service &amp; WatsonX Project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1D5DB"/>
                          </a:solidFill>
                          <a:latin typeface="Arial"/>
                        </a:rPr>
                        <a:t>Backend Framework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Arial"/>
                        </a:rPr>
                        <a:t>Java 17 / Spring Boot 3.2.3 REST Controller Architecture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1D5DB"/>
                          </a:solidFill>
                          <a:latin typeface="Arial"/>
                        </a:rPr>
                        <a:t>External Services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Arial"/>
                        </a:rPr>
                        <a:t>Open-Meteo Live Weather API &amp; Geocoding Service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635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1D5DB"/>
                          </a:solidFill>
                          <a:latin typeface="Arial"/>
                        </a:rPr>
                        <a:t>Frontend Interface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Arial"/>
                        </a:rPr>
                        <a:t>HTML5, Glassmorphism CSS3, Modern ES6+ JavaScript Fetch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7640">
                <a:tc>
                  <a:txBody>
                    <a:bodyPr/>
                    <a:lstStyle/>
                    <a:p>
                      <a:pPr algn="l"/>
                      <a:r>
                        <a:rPr sz="1500" b="1" i="0" u="none">
                          <a:solidFill>
                            <a:srgbClr val="D1D5DB"/>
                          </a:solidFill>
                          <a:latin typeface="Arial"/>
                        </a:rPr>
                        <a:t>Build &amp; Repository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D1D5DB"/>
                          </a:solidFill>
                          <a:latin typeface="Arial"/>
                        </a:rPr>
                        <a:t>Apache Maven, Git, and GitHub Public Repository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2068710"/>
            <a:ext cx="3021955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598217" y="2068710"/>
            <a:ext cx="8017519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2744985"/>
            <a:ext cx="3021955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98217" y="2744985"/>
            <a:ext cx="8017519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421260"/>
            <a:ext cx="3021955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98217" y="3421260"/>
            <a:ext cx="8017519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262" y="4097535"/>
            <a:ext cx="3021955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98217" y="4097535"/>
            <a:ext cx="8017519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773810"/>
            <a:ext cx="3021955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98217" y="4773810"/>
            <a:ext cx="8017519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5450085"/>
            <a:ext cx="3021955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598217" y="5450085"/>
            <a:ext cx="8017519" cy="9525"/>
          </a:xfrm>
          <a:prstGeom prst="rect">
            <a:avLst/>
          </a:prstGeom>
          <a:solidFill>
            <a:srgbClr val="3F3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Technology Stack &amp; IBM Orchestrate Components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03" y="1530187"/>
            <a:ext cx="6204747" cy="421821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3923"/>
            <a:ext cx="56007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Figure 1: Environment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1044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This visualization represents the active IBM Cloud environment and dedicated WatsonX project setup.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044"/>
            <a:ext cx="4953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Environment: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Active IBM Cloud infrastructure setup.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39294"/>
            <a:ext cx="4953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Security: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Configured with secure IAM authentication.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1155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Model Deployment: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Active Granite 3-8B instruct deployment endpoint configured for live inference.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IBM Cloud Infrastructure &amp; watsonx.ai Project</a:t>
            </a:r>
          </a:p>
        </p:txBody>
      </p:sp>
      <p:pic>
        <p:nvPicPr>
          <p:cNvPr id="13" name="Picture 12" descr="ibm_cloud_watsonx_dashboard_1788691563916.png">
            <a:extLst>
              <a:ext uri="{FF2B5EF4-FFF2-40B4-BE49-F238E27FC236}">
                <a16:creationId xmlns:a16="http://schemas.microsoft.com/office/drawing/2014/main" id="{C7EA6239-5A5E-B687-2C95-9D92173CAC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2989" y="2364467"/>
            <a:ext cx="6035690" cy="273177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625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3923"/>
            <a:ext cx="56007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Figure 2: Real-Time Connectivity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1044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Monitoring system health and active model connection states transparently.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Status Component: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Real-time status badge component verifying live token auth.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25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Responsiveness: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Confirms active model responsiveness prior to submitting queries.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687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Visual Feedback: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Instant visual verification for users navigating the planner.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Status Badge Highlight: IBM Granite Live Connection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6E8F8D1-C554-44EF-6C67-63608FB117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03" y="1530187"/>
            <a:ext cx="6204747" cy="4218214"/>
          </a:xfrm>
          <a:prstGeom prst="rect">
            <a:avLst/>
          </a:prstGeom>
        </p:spPr>
      </p:pic>
      <p:pic>
        <p:nvPicPr>
          <p:cNvPr id="15" name="Picture 14" descr="status_badge_highlight_1788691654765.png">
            <a:extLst>
              <a:ext uri="{FF2B5EF4-FFF2-40B4-BE49-F238E27FC236}">
                <a16:creationId xmlns:a16="http://schemas.microsoft.com/office/drawing/2014/main" id="{C75206B7-5320-6AE1-6DD8-FCD3558966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700" y="2291703"/>
            <a:ext cx="6046416" cy="27366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3923"/>
            <a:ext cx="56007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Figure 3: Modern UI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1044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The main interface where users interact with the TravelAI capabilities.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Design Language: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Glassmorphism UI aesthetic with responsive cards.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25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Live Status: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Integrated Live IBM Granite Status indicator within the header.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687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User Flow: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Seamless form entry for destinations, budgets, and travel style inputs.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Screenshot 3: TravelAI Web Homepage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A2E5FD77-2572-B697-E316-A49FC281A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03" y="1530187"/>
            <a:ext cx="6204747" cy="4218214"/>
          </a:xfrm>
          <a:prstGeom prst="rect">
            <a:avLst/>
          </a:prstGeom>
        </p:spPr>
      </p:pic>
      <p:pic>
        <p:nvPicPr>
          <p:cNvPr id="15" name="Picture 14" descr="travelai_homepage_1788686043207.png">
            <a:extLst>
              <a:ext uri="{FF2B5EF4-FFF2-40B4-BE49-F238E27FC236}">
                <a16:creationId xmlns:a16="http://schemas.microsoft.com/office/drawing/2014/main" id="{1CEB044C-9A32-7A92-E03C-64AD68F4A5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364" y="2337118"/>
            <a:ext cx="6037487" cy="27325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3923"/>
            <a:ext cx="56007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Figure 4: AI Model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1044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Real-time Paris 3-Day itinerary response generated directly by the ibm/granite-3-8b-instruct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Dynamic Generation: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Context-aware generation capturing user budget and duration.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25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Structured Format: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Organized day-by-day scheduling with realistic cost estimates.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687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Recommendations: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Tailored suggestions for transport and local attractions.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23875"/>
            <a:ext cx="11601450" cy="3209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29"/>
              </a:lnSpc>
            </a:pPr>
            <a:r>
              <a:rPr sz="2100" b="1" i="0" u="none" dirty="0">
                <a:solidFill>
                  <a:srgbClr val="0F62FE"/>
                </a:solidFill>
                <a:latin typeface="Arial"/>
              </a:rPr>
              <a:t>Screenshot 4: Live Paris Trip Itinerary</a:t>
            </a:r>
            <a:r>
              <a:rPr lang="en-US" sz="2100" b="1" i="0" u="none" dirty="0">
                <a:solidFill>
                  <a:srgbClr val="0F62FE"/>
                </a:solidFill>
                <a:latin typeface="Arial"/>
              </a:rPr>
              <a:t> </a:t>
            </a:r>
            <a:r>
              <a:rPr lang="en-US" sz="2100" b="1" dirty="0">
                <a:solidFill>
                  <a:srgbClr val="0F62FE"/>
                </a:solidFill>
                <a:latin typeface="Arial"/>
              </a:rPr>
              <a:t>Generated by IBM Granite AI</a:t>
            </a:r>
            <a:endParaRPr sz="2100" b="1" dirty="0">
              <a:solidFill>
                <a:srgbClr val="0F62FE"/>
              </a:solidFill>
              <a:latin typeface="Arial"/>
            </a:endParaRP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7C8AA5A9-BD90-E4B9-58DB-607FB7F9A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03" y="1530187"/>
            <a:ext cx="6204747" cy="4218214"/>
          </a:xfrm>
          <a:prstGeom prst="rect">
            <a:avLst/>
          </a:prstGeom>
        </p:spPr>
      </p:pic>
      <p:pic>
        <p:nvPicPr>
          <p:cNvPr id="15" name="Picture 14" descr="paris_trip_response_1788686078630.png">
            <a:extLst>
              <a:ext uri="{FF2B5EF4-FFF2-40B4-BE49-F238E27FC236}">
                <a16:creationId xmlns:a16="http://schemas.microsoft.com/office/drawing/2014/main" id="{26E4CF78-E585-3E60-4FD3-A08AF061CE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699" y="2331595"/>
            <a:ext cx="6048655" cy="273764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649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3923"/>
            <a:ext cx="56007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Figure 5: Backend Health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1044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High-resolution API status response from the /api/status endpoint.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Endpoint Verification: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Confirms watsonxConfigured: true flag.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25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Model Validation: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Explicitly returns the active model (ibm/granite-3-8b-instruct).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687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Robust Backend: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Proves the Spring Boot layer is properly interfacing with IBM services.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Screenshot 5: API Status JSON Endpoint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6BAD3AEF-A543-1912-9A96-93C40B2192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03" y="1530187"/>
            <a:ext cx="6204747" cy="4218214"/>
          </a:xfrm>
          <a:prstGeom prst="rect">
            <a:avLst/>
          </a:prstGeom>
        </p:spPr>
      </p:pic>
      <p:pic>
        <p:nvPicPr>
          <p:cNvPr id="15" name="Picture 14" descr="paris_trip_response_1788686078630.png">
            <a:extLst>
              <a:ext uri="{FF2B5EF4-FFF2-40B4-BE49-F238E27FC236}">
                <a16:creationId xmlns:a16="http://schemas.microsoft.com/office/drawing/2014/main" id="{5685C027-542C-7C8F-93CA-32F53F7CD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351" y="2271194"/>
            <a:ext cx="5988450" cy="27103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71500" y="1863923"/>
            <a:ext cx="560070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Figure 6: Live Weather Fusion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1044"/>
            <a:ext cx="5334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Detailed Goa itinerary generated with live weather observations seamlessly integrated into the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63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Data Integration: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Open-Meteo REST API data passed into the LLM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925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Smart Adjustments: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Activities tailored for specific weather conditions (e.g., beach times adjusted for sun).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687044"/>
            <a:ext cx="4953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End-to-End Orchestration: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Showcases multiple agents working together smoothly.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Screenshot 6: Goa Beach Itinerary &amp; Weather Data</a:t>
            </a:r>
          </a:p>
        </p:txBody>
      </p:sp>
      <p:pic>
        <p:nvPicPr>
          <p:cNvPr id="13" name="Picture 12" descr="image.png">
            <a:extLst>
              <a:ext uri="{FF2B5EF4-FFF2-40B4-BE49-F238E27FC236}">
                <a16:creationId xmlns:a16="http://schemas.microsoft.com/office/drawing/2014/main" id="{8E7364E3-FEE0-12BE-383F-4E8D07B78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203" y="1530187"/>
            <a:ext cx="6204747" cy="4218214"/>
          </a:xfrm>
          <a:prstGeom prst="rect">
            <a:avLst/>
          </a:prstGeom>
        </p:spPr>
      </p:pic>
      <p:pic>
        <p:nvPicPr>
          <p:cNvPr id="15" name="Picture 14" descr="chat_response_goa_1788682533970.png">
            <a:extLst>
              <a:ext uri="{FF2B5EF4-FFF2-40B4-BE49-F238E27FC236}">
                <a16:creationId xmlns:a16="http://schemas.microsoft.com/office/drawing/2014/main" id="{B980CD7C-4DA7-4482-108C-E73F17016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2371" y="2400122"/>
            <a:ext cx="6079418" cy="27515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037"/>
            <a:ext cx="5334000" cy="31279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334000" cy="3127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6775" y="2500312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System Prompt Configuration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037433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System Role: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TravelAI - Expert AI Travel Planner Agent powered by IBM Granite.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51808"/>
            <a:ext cx="4743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Behavioral Constraints: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Generate structured, practical, and highly detailed multi-day travel itineraries.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2500312"/>
            <a:ext cx="4980622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Formatting &amp; Safety Protocols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1775" y="3037433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Output Formatting: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Include Overview, Day-by-Day Schedule, Budget Estimation, Local Food Tips, and Packing Checklist.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1775" y="4037558"/>
            <a:ext cx="474345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D1D5DB"/>
                </a:solidFill>
                <a:latin typeface="Arial"/>
              </a:rPr>
              <a:t>Safety &amp; Accuracy: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Avoid unverified recommendations and emphasize local safety guidelines within the response.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Agent Instructions &amp; Behavioral Setup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88815"/>
            <a:ext cx="2547937" cy="3160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188815"/>
            <a:ext cx="2547937" cy="3160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188815"/>
            <a:ext cx="2547937" cy="31602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188815"/>
            <a:ext cx="2547937" cy="31602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Autonomous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System independently coordinates weather retrieval and LLM prompt inferencing.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2837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Context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2837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Adapts suggestions based on selected budget tiers (Budget vs. Luxury) and duration.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Real-Time Adaptability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Incorporates live weather observations into itinerary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0212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Proactive Guidance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0212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Recommends local transportation, packing items, and safety guidelines.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445990"/>
            <a:ext cx="3810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837" y="2445990"/>
            <a:ext cx="3048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445990"/>
            <a:ext cx="2286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0212" y="2445990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Role of Agentic AI in Smart Assistants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045940"/>
            <a:ext cx="2547937" cy="3445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045940"/>
            <a:ext cx="2547937" cy="34459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045940"/>
            <a:ext cx="2547937" cy="34459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045940"/>
            <a:ext cx="2547937" cy="34459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Native Java 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Clean production-grade Spring Boot backend directly consuming IBM watsonx.ai REST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2837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Live Weather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2837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Blends real-time meteorological data with AI narrative generation for zero-lag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Resilient Fallback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672631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Provides live status health indicators with seamless fallback support during failures.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0212" y="2788890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Glassmorphism UI/UX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0212" y="3672631"/>
            <a:ext cx="2052637" cy="1428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Modern visual aesthetics built with vanilla CSS and responsive intuitive cards.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303115"/>
            <a:ext cx="2286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837" y="2303115"/>
            <a:ext cx="3810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303115"/>
            <a:ext cx="3048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0212" y="2303115"/>
            <a:ext cx="3429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Novelty, Uniqueness &amp; Differentiators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52500" y="2578298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 </a:t>
            </a:r>
            <a:r>
              <a:rPr sz="1500" b="1" i="0" u="none">
                <a:solidFill>
                  <a:srgbClr val="FFFFFF"/>
                </a:solidFill>
                <a:latin typeface="Arial"/>
              </a:rPr>
              <a:t>GitHub Repository URL: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https://github.com/Adityapatel-dot/Travel-Planner-Agent-IBM-Cloud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3054548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Included Files (1):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All IBM Cloud Agent backend files (src/, pom.xml, .env.example, README.md)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530798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Included Files (2 &amp; 3):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yourproblemstatement.pdf and AICTE_Orchestrate_Project Submission.pdf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4007048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Included Files (4):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Accompanied by "yourprojectpresentation.pptx" verbatim.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4483298"/>
            <a:ext cx="10668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1" i="0" u="none">
                <a:solidFill>
                  <a:srgbClr val="FFFFFF"/>
                </a:solidFill>
                <a:latin typeface="Arial"/>
              </a:rPr>
              <a:t>Repository Access:</a:t>
            </a:r>
            <a:r>
              <a:rPr sz="1500" b="0" i="0" u="none">
                <a:solidFill>
                  <a:srgbClr val="D1D5DB"/>
                </a:solidFill>
                <a:latin typeface="Arial"/>
              </a:rPr>
              <a:t> Publicly hosted, fully tested, and ready for evaluation.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21160"/>
            <a:ext cx="18097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097410"/>
            <a:ext cx="14287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57366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049910"/>
            <a:ext cx="142875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526160"/>
            <a:ext cx="1905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Project Artifacts &amp; GitHub Repository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88815"/>
            <a:ext cx="2547937" cy="31602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5187" y="2188815"/>
            <a:ext cx="2547937" cy="31602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8875" y="2188815"/>
            <a:ext cx="2547937" cy="316021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2562" y="2188815"/>
            <a:ext cx="2547937" cy="31602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9150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Flight &amp; Hotel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Direct integration with Skyscanner and Booking.com APIs for real-time pricing.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2837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Interactive Map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2837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Mapbox / Google Maps API integration for interactive daily route planning.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Voice &amp; Multilingual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815506"/>
            <a:ext cx="2052637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Web Speech API integration supporting voice input in multiple languages.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0212" y="2931765"/>
            <a:ext cx="2155269" cy="6932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FFFFFF"/>
                </a:solidFill>
                <a:latin typeface="Arial"/>
              </a:rPr>
              <a:t>Expense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0212" y="3815506"/>
            <a:ext cx="2052637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D1D5DB"/>
                </a:solidFill>
                <a:latin typeface="Arial"/>
              </a:rPr>
              <a:t>Real-time travel budget tracking and expense categorization agent.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445990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2837" y="2445990"/>
            <a:ext cx="342900" cy="3048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445990"/>
            <a:ext cx="228600" cy="3048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0212" y="2445990"/>
            <a:ext cx="304800" cy="3048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71500" y="523875"/>
            <a:ext cx="11601450" cy="3466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29"/>
              </a:lnSpc>
            </a:pPr>
            <a:r>
              <a:rPr sz="2100" b="1" i="0" u="none">
                <a:solidFill>
                  <a:srgbClr val="0F62FE"/>
                </a:solidFill>
                <a:latin typeface="Arial"/>
              </a:rPr>
              <a:t>Future Scope &amp; Enhancements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8391F-99B2-F203-553F-26620F3DA1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C9C97C16-E3B8-23C4-8FD7-D853DC0C0C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D396667-97A5-09A1-765D-84623D4F54BA}"/>
              </a:ext>
            </a:extLst>
          </p:cNvPr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E8FA76-DE09-927C-6EBE-58D3DBE15C43}"/>
              </a:ext>
            </a:extLst>
          </p:cNvPr>
          <p:cNvSpPr txBox="1"/>
          <p:nvPr/>
        </p:nvSpPr>
        <p:spPr>
          <a:xfrm>
            <a:off x="295275" y="566977"/>
            <a:ext cx="116014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Certificates Earned: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C031A0-A43C-AD47-B7CC-2E1B7ECF9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108" y="1035716"/>
            <a:ext cx="8026713" cy="567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79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39F631-C824-CFB2-12C1-8BC8DCBD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EF72C8D-7415-BFA2-0C51-FC1FE7F0A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242B2DA-17DC-2BE2-DF3E-498C17A2D74B}"/>
              </a:ext>
            </a:extLst>
          </p:cNvPr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85542-C76D-2D1F-EEAE-E35D124711DE}"/>
              </a:ext>
            </a:extLst>
          </p:cNvPr>
          <p:cNvSpPr txBox="1"/>
          <p:nvPr/>
        </p:nvSpPr>
        <p:spPr>
          <a:xfrm>
            <a:off x="295275" y="566977"/>
            <a:ext cx="11601450" cy="32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729"/>
              </a:lnSpc>
            </a:pP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Certificates Earned: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8C92E6C-6E7D-9C6A-550E-3E7C865A17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9000" y="1080319"/>
            <a:ext cx="7983778" cy="564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4580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47625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156245"/>
            <a:ext cx="11049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" y="2070645"/>
            <a:ext cx="11049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985045"/>
            <a:ext cx="11049000" cy="914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5457" y="138735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571872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Google Shape;278;p18">
            <a:extLst>
              <a:ext uri="{FF2B5EF4-FFF2-40B4-BE49-F238E27FC236}">
                <a16:creationId xmlns:a16="http://schemas.microsoft.com/office/drawing/2014/main" id="{534D48B9-9307-B074-6560-888998140C60}"/>
              </a:ext>
            </a:extLst>
          </p:cNvPr>
          <p:cNvSpPr/>
          <p:nvPr/>
        </p:nvSpPr>
        <p:spPr>
          <a:xfrm>
            <a:off x="2678559" y="2070645"/>
            <a:ext cx="6962750" cy="1948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9600" b="1" dirty="0">
                <a:solidFill>
                  <a:schemeClr val="tx2">
                    <a:lumMod val="60000"/>
                    <a:lumOff val="40000"/>
                  </a:schemeClr>
                </a:solidFill>
                <a:sym typeface="Times New Roman"/>
              </a:rPr>
              <a:t>Thank you</a:t>
            </a:r>
            <a:endParaRPr sz="9600" b="1" dirty="0">
              <a:solidFill>
                <a:schemeClr val="tx2">
                  <a:lumMod val="60000"/>
                  <a:lumOff val="40000"/>
                </a:schemeClr>
              </a:solidFill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1426</Words>
  <Application>Microsoft Office PowerPoint</Application>
  <PresentationFormat>Widescreen</PresentationFormat>
  <Paragraphs>157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Patel</cp:lastModifiedBy>
  <cp:revision>2</cp:revision>
  <dcterms:created xsi:type="dcterms:W3CDTF">2013-01-27T09:14:16Z</dcterms:created>
  <dcterms:modified xsi:type="dcterms:W3CDTF">2026-09-06T11:38:42Z</dcterms:modified>
  <cp:category/>
</cp:coreProperties>
</file>